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4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Videos</c:v>
                </c:pt>
              </c:strCache>
            </c:strRef>
          </c:tx>
          <c:spPr>
            <a:solidFill>
              <a:srgbClr val="1565C0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Generate a video on any topic</c:v>
                </c:pt>
                <c:pt idx="1">
                  <c:v>Create session highlights</c:v>
                </c:pt>
                <c:pt idx="2">
                  <c:v>Start from scratch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54</c:v>
                </c:pt>
                <c:pt idx="2">
                  <c:v>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3F-4243-B647-E5FD529EA9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12121"/>
                </a:solidFill>
              </a:defRPr>
            </a:pPr>
            <a:endParaRPr lang="en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6161"/>
                </a:solidFill>
              </a:defRPr>
            </a:pPr>
            <a:endParaRPr lang="en-I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dirty="0">
                <a:latin typeface="Centra No1" pitchFamily="2" charset="77"/>
                <a:ea typeface="Centra No1" pitchFamily="2" charset="77"/>
              </a:rPr>
              <a:t>Videos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Videos</c:v>
                </c:pt>
              </c:strCache>
            </c:strRef>
          </c:tx>
          <c:spPr>
            <a:solidFill>
              <a:srgbClr val="1565C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1565C0"/>
              </a:solidFill>
            </c:spPr>
            <c:extLst>
              <c:ext xmlns:c16="http://schemas.microsoft.com/office/drawing/2014/chart" uri="{C3380CC4-5D6E-409C-BE32-E72D297353CC}">
                <c16:uniqueId val="{00000001-6D3C-2A49-AC75-149978F8969D}"/>
              </c:ext>
            </c:extLst>
          </c:dPt>
          <c:dPt>
            <c:idx val="1"/>
            <c:invertIfNegative val="1"/>
            <c:bubble3D val="0"/>
            <c:spPr>
              <a:solidFill>
                <a:srgbClr val="7B1FA2"/>
              </a:solidFill>
            </c:spPr>
            <c:extLst>
              <c:ext xmlns:c16="http://schemas.microsoft.com/office/drawing/2014/chart" uri="{C3380CC4-5D6E-409C-BE32-E72D297353CC}">
                <c16:uniqueId val="{00000003-6D3C-2A49-AC75-149978F8969D}"/>
              </c:ext>
            </c:extLst>
          </c:dPt>
          <c:dPt>
            <c:idx val="2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5-6D3C-2A49-AC75-149978F8969D}"/>
              </c:ext>
            </c:extLst>
          </c:dPt>
          <c:dPt>
            <c:idx val="3"/>
            <c:invertIfNegative val="1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6D3C-2A49-AC75-149978F896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212121"/>
                    </a:solidFill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Course Welcome / Intro</c:v>
                </c:pt>
                <c:pt idx="1">
                  <c:v>Student Assignments</c:v>
                </c:pt>
                <c:pt idx="2">
                  <c:v>Training / Process</c:v>
                </c:pt>
                <c:pt idx="3">
                  <c:v>Test / Abandoned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6D3C-2A49-AC75-149978F896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12121"/>
                </a:solidFill>
                <a:latin typeface="Calibri"/>
              </a:defRPr>
            </a:pPr>
            <a:endParaRPr lang="en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</c:scaling>
        <c:delete val="0"/>
        <c:axPos val="t"/>
        <c:majorGridlines>
          <c:spPr>
            <a:ln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16161"/>
                </a:solidFill>
              </a:defRPr>
            </a:pPr>
            <a:endParaRPr lang="en-I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12121"/>
                </a:solidFill>
                <a:latin typeface="Calibri"/>
              </a:defRPr>
            </a:pPr>
            <a:r>
              <a:t>Avatar Videos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16161"/>
                </a:solidFill>
                <a:latin typeface="Calibri"/>
              </a:defRPr>
            </a:pPr>
            <a:r>
              <a:t>Updated Jun 30,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9E9E"/>
                </a:solidFill>
                <a:latin typeface="Calibri"/>
              </a:defRPr>
            </a:pPr>
            <a:r>
              <a:t>Snapshot of All Accounts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Snapshot — Last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>
                <a:solidFill>
                  <a:srgbClr val="616161"/>
                </a:solidFill>
                <a:latin typeface="Centra No1" pitchFamily="2" charset="77"/>
                <a:ea typeface="Centra No1" pitchFamily="2" charset="77"/>
              </a:defRPr>
            </a:lvl1pPr>
          </a:lstStyle>
          <a:p>
            <a:r>
              <a:rPr dirty="0"/>
              <a:t>May 30 – Jun 29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rPr sz="1600" dirty="0">
                <a:latin typeface="Centra No1" pitchFamily="2" charset="77"/>
                <a:ea typeface="Centra No1" pitchFamily="2" charset="77"/>
              </a:rPr>
              <a:t>Monthly Unique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011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65C0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158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6459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4760" y="2011680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rPr sz="1600" dirty="0">
                <a:solidFill>
                  <a:srgbClr val="616161"/>
                </a:solidFill>
                <a:latin typeface="Centra No1" pitchFamily="2" charset="77"/>
                <a:ea typeface="Centra No1" pitchFamily="2" charset="77"/>
              </a:rPr>
              <a:t>Monthly</a:t>
            </a:r>
            <a:r>
              <a:rPr sz="1600" dirty="0">
                <a:latin typeface="Centra No1" pitchFamily="2" charset="77"/>
                <a:ea typeface="Centra No1" pitchFamily="2" charset="77"/>
              </a:rPr>
              <a:t> Avatar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60320"/>
            <a:ext cx="2011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1FA2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368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55398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321158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rPr sz="1600" dirty="0">
                <a:latin typeface="Centra No1" pitchFamily="2" charset="77"/>
                <a:ea typeface="Centra No1" pitchFamily="2" charset="77"/>
              </a:rPr>
              <a:t>Avg. Videos per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69798"/>
            <a:ext cx="2011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7D32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2.3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3955398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4321158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rPr sz="1600" dirty="0">
                <a:latin typeface="Centra No1" pitchFamily="2" charset="77"/>
                <a:ea typeface="Centra No1" pitchFamily="2" charset="77"/>
              </a:rPr>
              <a:t>Returning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869798"/>
            <a:ext cx="2011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39%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Customers POC — Account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rPr sz="1600" dirty="0">
                <a:latin typeface="Centra No1" pitchFamily="2" charset="77"/>
                <a:ea typeface="Centra No1" pitchFamily="2" charset="77"/>
              </a:rPr>
              <a:t>Accounts enabled in sandboxes, staging environments, or with limited creators.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19645"/>
              </p:ext>
            </p:extLst>
          </p:nvPr>
        </p:nvGraphicFramePr>
        <p:xfrm>
          <a:off x="548640" y="1807534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Active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Returning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Videos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Last 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eLearning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Jun 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AHK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Jun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Jun 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Jun 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McDonald's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Jun 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Roche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Jun 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U of Michigan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May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Free Trial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>
                <a:solidFill>
                  <a:srgbClr val="616161"/>
                </a:solidFill>
                <a:latin typeface="Centra No1" pitchFamily="2" charset="77"/>
                <a:ea typeface="Centra No1" pitchFamily="2" charset="77"/>
              </a:defRPr>
            </a:lvl1pPr>
          </a:lstStyle>
          <a:p>
            <a:r>
              <a:rPr lang="en-US" dirty="0"/>
              <a:t>Cohort 1 - </a:t>
            </a:r>
            <a:r>
              <a:rPr dirty="0"/>
              <a:t>Launched Jun 8–12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091887"/>
              </p:ext>
            </p:extLst>
          </p:nvPr>
        </p:nvGraphicFramePr>
        <p:xfrm>
          <a:off x="365760" y="137160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Customer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Saw Modal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Entered App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Returning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Videos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Potential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Liberty University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4,734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12,426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University of Maine System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1,124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Block,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Allspring Global Investments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BA5EF2-A587-E66E-3B7C-4F6889A18A0B}"/>
              </a:ext>
            </a:extLst>
          </p:cNvPr>
          <p:cNvSpPr txBox="1"/>
          <p:nvPr/>
        </p:nvSpPr>
        <p:spPr>
          <a:xfrm>
            <a:off x="73152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>
                <a:solidFill>
                  <a:srgbClr val="616161"/>
                </a:solidFill>
                <a:latin typeface="Centra No1" pitchFamily="2" charset="77"/>
                <a:ea typeface="Centra No1" pitchFamily="2" charset="77"/>
              </a:defRPr>
            </a:lvl1pPr>
          </a:lstStyle>
          <a:p>
            <a:r>
              <a:rPr dirty="0"/>
              <a:t>Launched Jun 22–26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BB1A01-2FE3-8CFC-D856-108AB1A12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941219"/>
              </p:ext>
            </p:extLst>
          </p:nvPr>
        </p:nvGraphicFramePr>
        <p:xfrm>
          <a:off x="365760" y="3931920"/>
          <a:ext cx="1115568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Customer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Saw Modal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Entered App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Returning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Videos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Potential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Colorado Christian University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2,967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University of Arkansas Fayetteville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962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Saskatchewan Polytechnic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California State University, Long Beach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Olivet Nazarene University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>
                          <a:latin typeface="Centra No1" pitchFamily="2" charset="77"/>
                          <a:ea typeface="Centra No1" pitchFamily="2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600" dirty="0">
                          <a:latin typeface="Centra No1" pitchFamily="2" charset="77"/>
                          <a:ea typeface="Centra No1" pitchFamily="2" charset="77"/>
                        </a:rPr>
                        <a:t>392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Video Creation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>
                <a:solidFill>
                  <a:srgbClr val="616161"/>
                </a:solidFill>
                <a:latin typeface="Centra No1" pitchFamily="2" charset="77"/>
                <a:ea typeface="Centra No1" pitchFamily="2" charset="77"/>
              </a:defRPr>
            </a:lvl1pPr>
          </a:lstStyle>
          <a:p>
            <a:r>
              <a:rPr dirty="0"/>
              <a:t>Data from POC customers and Free Trial accounts only.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058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6824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121"/>
                </a:solidFill>
                <a:latin typeface="Calibri"/>
              </a:defRPr>
            </a:pPr>
            <a:r>
              <a:rPr dirty="0">
                <a:latin typeface="Centra No1" pitchFamily="2" charset="77"/>
                <a:ea typeface="Centra No1" pitchFamily="2" charset="77"/>
              </a:rPr>
              <a:t>Use Case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0">
                <a:solidFill>
                  <a:srgbClr val="616161"/>
                </a:solidFill>
                <a:latin typeface="Centra No1" pitchFamily="2" charset="77"/>
                <a:ea typeface="Centra No1" pitchFamily="2" charset="77"/>
              </a:defRPr>
            </a:lvl1pPr>
          </a:lstStyle>
          <a:p>
            <a:r>
              <a:rPr dirty="0"/>
              <a:t>Categorization of videos created by Free Trial users (sample of published content)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13837"/>
              </p:ext>
            </p:extLst>
          </p:nvPr>
        </p:nvGraphicFramePr>
        <p:xfrm>
          <a:off x="731520" y="1645920"/>
          <a:ext cx="10058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262</Words>
  <Application>Microsoft Macintosh PowerPoint</Application>
  <PresentationFormat>Custom</PresentationFormat>
  <Paragraphs>130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Centra No1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ינאי חיים כהן</cp:lastModifiedBy>
  <cp:revision>3</cp:revision>
  <dcterms:created xsi:type="dcterms:W3CDTF">2013-01-27T09:14:16Z</dcterms:created>
  <dcterms:modified xsi:type="dcterms:W3CDTF">2026-06-30T05:17:17Z</dcterms:modified>
  <cp:category/>
</cp:coreProperties>
</file>